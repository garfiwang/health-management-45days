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446" r:id="rId2"/>
    <p:sldId id="1445" r:id="rId3"/>
    <p:sldId id="256" r:id="rId4"/>
    <p:sldId id="257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79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0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0FC5B0-EC28-424C-9220-A2914C6AA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A7A245F-0163-4199-97A0-D3F89CAAD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D11787-863C-472B-8EFB-D7C5A382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929A39-0BE9-4DFD-9799-354044FF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0CB614-6CA2-4A1A-A02F-5A001A41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8630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8B381C-AACE-45F7-8B38-D5E5ADB72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399A6B-A21D-4F7F-8732-1060E167D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29C337-5F11-4225-81E0-2EF2C7D3D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F5230C-024F-46E7-8831-38D45BE83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023E0B-3314-4628-A195-718FA6B31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873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1A6F44-8144-40DB-9C63-89D080FD6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9B687F-5E88-4D1D-B20D-EA202DA1D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F9930B-E46E-462B-82C6-7AFDBD64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8AAD11-1CD8-4862-91CE-780522DBC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86E9FD-590F-4007-A3CC-88DB4B4F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0767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861E4B-993D-45C6-B730-D68A6658F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A9B0A8-5969-490D-9413-FB0308818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84EA47-93BC-47A4-A6AF-59AF6B725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691A241-FED5-4DDA-BED8-8746F3E6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099D929-6328-4AE9-AD67-5988BD6F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9A40EED-4E94-4B77-BB0B-72EA7C2B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8378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D46212-BA62-4B22-A39A-F85975CF6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0C4C76-DDAF-4235-8EE6-81C3CBB4A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D89C31D-22DF-4059-A88C-7E53CB4DD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3AA8339-2825-457A-AAC5-2DD8417FE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1DD8DC2-E457-44E8-B7AF-A56C5A657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E6BC396-6BE5-4E91-B08A-FE89201B7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1BE0E46-D77C-460D-8BA7-4D6CB946F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FFCA43D-72A7-40B4-9BD8-B0C2572C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863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5FFCF3-AFB7-49BC-A2CA-A6B99F75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7A2FDAE-C718-42B1-BBEF-856E889AD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89C8174-7AB3-478D-9BC4-213C875D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24561C-BE70-4076-B986-1258FC82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8980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98126FA-91AE-4558-B136-93AFF2BF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2DD139F-642F-4AE2-AA47-328BA4DF4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AB5E74-8955-4285-8EE6-7CBBA0C0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5007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FB8D86-022F-4D2D-8693-4E3D58E49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634B4F-CAC2-4F58-9965-6FB89D4ED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43BAB8B-7189-49CE-9AD8-16314DC7C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0D59E7B-4915-4E0A-948A-F2E8BB32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DE95C17-FB6C-4AB1-AA61-C7C1A036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8A9892-9A3D-4098-9735-138C4B877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142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CE7A27-23B0-4883-A651-C6F3D3F2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36F7C19-B693-40EA-84DE-6136C68B9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9E0C4CD-27C5-4B7B-9C7D-87ED77FC9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7A0134-113E-4D48-9E7A-81F1DA56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A75B725-AD0D-421C-BAE5-C3CC95190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F3C999D-DA02-4DE4-8079-D9928FED8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0868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4F8962-118D-48EB-A6B3-4FB3C9D6A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21027C6-FC61-47DB-B360-BCD03E7BB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5BB788-8E7C-47AE-9753-6771FFF68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53AB3F-6B0D-45AC-9C09-B0199B7E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39B9B8-A2A9-4AA9-BF85-73BF090B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2294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6FB9778-47EB-4AF3-8FDF-18A64E505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9335F4D-2E32-4907-A9AB-8F60A7C4A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735972-114F-4376-9C97-F2EFEA2B4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973F72-2E23-4DCE-8603-73C1E7F4E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84E9C2-AA5D-451F-A3CC-DD78A42B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4265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78E896E-53CC-48AA-BFFB-A2AA017A0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58CEF9-9C92-4F8F-A0CC-97242C81F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012883-79A6-4ED6-AD9B-91FDEC264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ABBCD9-DB50-47A0-B3C2-E0806895E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FD2ACB-D1E6-41CA-A2BB-FC88EAB43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829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FD2D27D-287E-357F-A394-AA99241EE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" y="7"/>
            <a:ext cx="12191987" cy="68579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58569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84AAACF-8146-CB6B-3453-F5AD2ECE7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" y="7"/>
            <a:ext cx="12191987" cy="68579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4747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FBF50782-515B-B942-B678-71018B5E6980}"/>
              </a:ext>
            </a:extLst>
          </p:cNvPr>
          <p:cNvSpPr/>
          <p:nvPr/>
        </p:nvSpPr>
        <p:spPr>
          <a:xfrm>
            <a:off x="3810435" y="1655500"/>
            <a:ext cx="2993555" cy="518643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TW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健管後照片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73CEDE-EF75-0242-B450-AC6D7A7321C9}"/>
              </a:ext>
            </a:extLst>
          </p:cNvPr>
          <p:cNvSpPr/>
          <p:nvPr/>
        </p:nvSpPr>
        <p:spPr>
          <a:xfrm>
            <a:off x="381175" y="1671559"/>
            <a:ext cx="2971800" cy="518643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TW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健管前照片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B892D98-F261-43E9-B2A8-D4E23AE242D9}"/>
              </a:ext>
            </a:extLst>
          </p:cNvPr>
          <p:cNvSpPr txBox="1"/>
          <p:nvPr/>
        </p:nvSpPr>
        <p:spPr>
          <a:xfrm>
            <a:off x="5568157" y="257174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健管後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7B3C825-704A-4FE1-8385-93D10C2C84C8}"/>
              </a:ext>
            </a:extLst>
          </p:cNvPr>
          <p:cNvSpPr txBox="1"/>
          <p:nvPr/>
        </p:nvSpPr>
        <p:spPr>
          <a:xfrm>
            <a:off x="1359853" y="1413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健管前</a:t>
            </a:r>
          </a:p>
        </p:txBody>
      </p:sp>
      <p:graphicFrame>
        <p:nvGraphicFramePr>
          <p:cNvPr id="17" name="表格 17">
            <a:extLst>
              <a:ext uri="{FF2B5EF4-FFF2-40B4-BE49-F238E27FC236}">
                <a16:creationId xmlns:a16="http://schemas.microsoft.com/office/drawing/2014/main" id="{9F2DDE7E-B314-4F60-96B6-9705E17DB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552612"/>
              </p:ext>
            </p:extLst>
          </p:nvPr>
        </p:nvGraphicFramePr>
        <p:xfrm>
          <a:off x="7087376" y="257174"/>
          <a:ext cx="4799824" cy="283289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38935">
                  <a:extLst>
                    <a:ext uri="{9D8B030D-6E8A-4147-A177-3AD203B41FA5}">
                      <a16:colId xmlns:a16="http://schemas.microsoft.com/office/drawing/2014/main" val="3511705347"/>
                    </a:ext>
                  </a:extLst>
                </a:gridCol>
                <a:gridCol w="936978">
                  <a:extLst>
                    <a:ext uri="{9D8B030D-6E8A-4147-A177-3AD203B41FA5}">
                      <a16:colId xmlns:a16="http://schemas.microsoft.com/office/drawing/2014/main" val="2358775108"/>
                    </a:ext>
                  </a:extLst>
                </a:gridCol>
                <a:gridCol w="982133">
                  <a:extLst>
                    <a:ext uri="{9D8B030D-6E8A-4147-A177-3AD203B41FA5}">
                      <a16:colId xmlns:a16="http://schemas.microsoft.com/office/drawing/2014/main" val="598697509"/>
                    </a:ext>
                  </a:extLst>
                </a:gridCol>
                <a:gridCol w="1241778">
                  <a:extLst>
                    <a:ext uri="{9D8B030D-6E8A-4147-A177-3AD203B41FA5}">
                      <a16:colId xmlns:a16="http://schemas.microsoft.com/office/drawing/2014/main" val="1908953908"/>
                    </a:ext>
                  </a:extLst>
                </a:gridCol>
              </a:tblGrid>
              <a:tr h="459510">
                <a:tc>
                  <a:txBody>
                    <a:bodyPr/>
                    <a:lstStyle/>
                    <a:p>
                      <a:endParaRPr lang="zh-TW" altLang="en-US" sz="2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開始日</a:t>
                      </a:r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sz="16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結束日</a:t>
                      </a:r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sz="16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成效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593780"/>
                  </a:ext>
                </a:extLst>
              </a:tr>
              <a:tr h="535341">
                <a:tc>
                  <a:txBody>
                    <a:bodyPr/>
                    <a:lstStyle/>
                    <a:p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體重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53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50.9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降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2.1kg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869877"/>
                  </a:ext>
                </a:extLst>
              </a:tr>
              <a:tr h="459510">
                <a:tc>
                  <a:txBody>
                    <a:bodyPr/>
                    <a:lstStyle/>
                    <a:p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體脂率</a:t>
                      </a:r>
                      <a:r>
                        <a:rPr lang="en-US" altLang="zh-TW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％</a:t>
                      </a:r>
                      <a:r>
                        <a:rPr lang="en-US" altLang="zh-TW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sz="24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32.2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30.4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降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1.8 %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776910"/>
                  </a:ext>
                </a:extLst>
              </a:tr>
              <a:tr h="459510">
                <a:tc>
                  <a:txBody>
                    <a:bodyPr/>
                    <a:lstStyle/>
                    <a:p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體脂肪</a:t>
                      </a:r>
                      <a:r>
                        <a:rPr lang="en-US" altLang="zh-TW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(kg)</a:t>
                      </a:r>
                      <a:endParaRPr lang="zh-TW" altLang="en-US" sz="24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17.07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15.47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降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1.6kg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214688"/>
                  </a:ext>
                </a:extLst>
              </a:tr>
              <a:tr h="459510">
                <a:tc>
                  <a:txBody>
                    <a:bodyPr/>
                    <a:lstStyle/>
                    <a:p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內臟脂肪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降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1</a:t>
                      </a:r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endParaRPr lang="en-US" altLang="zh-TW" sz="2200" b="1" dirty="0">
                        <a:solidFill>
                          <a:srgbClr val="FF000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86522"/>
                  </a:ext>
                </a:extLst>
              </a:tr>
              <a:tr h="459510">
                <a:tc>
                  <a:txBody>
                    <a:bodyPr/>
                    <a:lstStyle/>
                    <a:p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身體年齡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51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48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減 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468215"/>
                  </a:ext>
                </a:extLst>
              </a:tr>
            </a:tbl>
          </a:graphicData>
        </a:graphic>
      </p:graphicFrame>
      <p:sp>
        <p:nvSpPr>
          <p:cNvPr id="18" name="文字方塊 17">
            <a:extLst>
              <a:ext uri="{FF2B5EF4-FFF2-40B4-BE49-F238E27FC236}">
                <a16:creationId xmlns:a16="http://schemas.microsoft.com/office/drawing/2014/main" id="{44CD22C7-926A-49E5-960E-45C0B5E75CA6}"/>
              </a:ext>
            </a:extLst>
          </p:cNvPr>
          <p:cNvSpPr txBox="1"/>
          <p:nvPr/>
        </p:nvSpPr>
        <p:spPr>
          <a:xfrm>
            <a:off x="139809" y="85819"/>
            <a:ext cx="6181969" cy="11387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28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寰宇南京中心</a:t>
            </a:r>
            <a:endParaRPr lang="en-US" altLang="zh-TW" sz="28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r>
              <a:rPr lang="zh-TW" altLang="en-US" sz="40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健管</a:t>
            </a:r>
            <a:r>
              <a:rPr lang="en-US" altLang="zh-TW" sz="40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45</a:t>
            </a:r>
            <a:r>
              <a:rPr lang="zh-TW" altLang="en-US" sz="40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許雅雯</a:t>
            </a:r>
            <a:endParaRPr lang="en-US" altLang="zh-TW" sz="4000" b="1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D4FF876-982F-4140-8E51-B16B2C8C667A}"/>
              </a:ext>
            </a:extLst>
          </p:cNvPr>
          <p:cNvSpPr txBox="1"/>
          <p:nvPr/>
        </p:nvSpPr>
        <p:spPr>
          <a:xfrm>
            <a:off x="833527" y="1255380"/>
            <a:ext cx="5312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年齡</a:t>
            </a:r>
            <a:r>
              <a:rPr lang="en-US" altLang="zh-TW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 48</a:t>
            </a:r>
            <a:r>
              <a:rPr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歲</a:t>
            </a:r>
            <a:r>
              <a:rPr kumimoji="1"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推薦人</a:t>
            </a:r>
            <a:r>
              <a:rPr kumimoji="1" lang="en-US" altLang="zh-TW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kumimoji="1"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江沛璇       健管教練</a:t>
            </a:r>
            <a:r>
              <a:rPr kumimoji="1" lang="en-US" altLang="zh-TW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kumimoji="1"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麥淑媛</a:t>
            </a:r>
            <a:endParaRPr lang="zh-TW" altLang="en-US" b="1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464904-F5AB-EA4B-B93E-977F5A3DDB07}"/>
              </a:ext>
            </a:extLst>
          </p:cNvPr>
          <p:cNvSpPr/>
          <p:nvPr/>
        </p:nvSpPr>
        <p:spPr>
          <a:xfrm>
            <a:off x="5536291" y="1644171"/>
            <a:ext cx="1267699" cy="488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AFTER</a:t>
            </a:r>
            <a:endParaRPr kumimoji="1" lang="zh-TW" altLang="en-US" sz="24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8B7DBB07-CBCF-B745-BE40-2AE7449D3BB2}"/>
              </a:ext>
            </a:extLst>
          </p:cNvPr>
          <p:cNvSpPr/>
          <p:nvPr/>
        </p:nvSpPr>
        <p:spPr>
          <a:xfrm>
            <a:off x="7283205" y="3429000"/>
            <a:ext cx="4421115" cy="317182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zh-TW" altLang="en-US" sz="2400" b="1" dirty="0">
                <a:solidFill>
                  <a:srgbClr val="7030A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  </a:t>
            </a:r>
            <a:r>
              <a:rPr kumimoji="1" lang="zh-TW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改善的狀況</a:t>
            </a:r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</a:t>
            </a:r>
            <a:r>
              <a:rPr kumimoji="1" lang="en-US" altLang="zh-TW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kumimoji="1" lang="zh-TW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</a:t>
            </a:r>
            <a:r>
              <a:rPr kumimoji="1" lang="en-US" altLang="zh-TW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kumimoji="1" lang="zh-TW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</a:t>
            </a:r>
            <a:r>
              <a:rPr kumimoji="1" lang="en-US" altLang="zh-TW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kumimoji="1" lang="zh-TW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endParaRPr kumimoji="1" lang="en-US" altLang="zh-TW" sz="2400" b="1" dirty="0">
              <a:solidFill>
                <a:schemeClr val="tx1">
                  <a:lumMod val="50000"/>
                  <a:lumOff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</a:t>
            </a:r>
            <a:endParaRPr kumimoji="1" lang="en-US" altLang="zh-TW" sz="2400" b="1" dirty="0">
              <a:solidFill>
                <a:schemeClr val="tx1">
                  <a:lumMod val="50000"/>
                  <a:lumOff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</a:t>
            </a:r>
            <a:endParaRPr kumimoji="1" lang="en-US" altLang="zh-TW" sz="2400" b="1" dirty="0">
              <a:solidFill>
                <a:schemeClr val="tx1">
                  <a:lumMod val="50000"/>
                  <a:lumOff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DEC8AAD-20F7-A2D4-7330-369FEA2AC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435" y="2132767"/>
            <a:ext cx="2993555" cy="404612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88FFDCF-169E-2A73-5E45-EF37E77E0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3" t="10010" r="25088" b="12966"/>
          <a:stretch>
            <a:fillRect/>
          </a:stretch>
        </p:blipFill>
        <p:spPr>
          <a:xfrm>
            <a:off x="6096000" y="3297295"/>
            <a:ext cx="1830547" cy="3358861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C10182E7-7F54-7362-D2F1-6F0C9814E8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65" t="-2062" r="24997" b="2062"/>
          <a:stretch>
            <a:fillRect/>
          </a:stretch>
        </p:blipFill>
        <p:spPr>
          <a:xfrm>
            <a:off x="158499" y="1624712"/>
            <a:ext cx="2331241" cy="4677609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F919A4AA-3F55-02B6-2E78-0855D33E95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69" r="34757"/>
          <a:stretch>
            <a:fillRect/>
          </a:stretch>
        </p:blipFill>
        <p:spPr>
          <a:xfrm>
            <a:off x="1896534" y="2132768"/>
            <a:ext cx="1540139" cy="470917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A169DA8-3582-9D40-849B-DA1CE6A608C1}"/>
              </a:ext>
            </a:extLst>
          </p:cNvPr>
          <p:cNvSpPr/>
          <p:nvPr/>
        </p:nvSpPr>
        <p:spPr>
          <a:xfrm>
            <a:off x="1896534" y="1659405"/>
            <a:ext cx="1444978" cy="5088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BEFORE</a:t>
            </a:r>
            <a:endParaRPr kumimoji="1" lang="zh-TW" altLang="en-US" sz="24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1273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FDECF-F18A-E392-0988-CCA4CD32A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2BFAD52-2F77-5209-BA6A-4E1ED1AE2083}"/>
              </a:ext>
            </a:extLst>
          </p:cNvPr>
          <p:cNvSpPr/>
          <p:nvPr/>
        </p:nvSpPr>
        <p:spPr>
          <a:xfrm>
            <a:off x="3832190" y="1655500"/>
            <a:ext cx="2971800" cy="518643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TW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健管後照片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21FA1D-59D6-5106-5932-D0C5D73C28CD}"/>
              </a:ext>
            </a:extLst>
          </p:cNvPr>
          <p:cNvSpPr/>
          <p:nvPr/>
        </p:nvSpPr>
        <p:spPr>
          <a:xfrm>
            <a:off x="381175" y="1671559"/>
            <a:ext cx="2971800" cy="518643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TW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健管前照片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E8FCB17-EB32-BAD1-3C67-320641FF5DB0}"/>
              </a:ext>
            </a:extLst>
          </p:cNvPr>
          <p:cNvSpPr txBox="1"/>
          <p:nvPr/>
        </p:nvSpPr>
        <p:spPr>
          <a:xfrm>
            <a:off x="5568157" y="257174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健管後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8E434E6-1F1E-9CC9-D3B3-A12789CDE577}"/>
              </a:ext>
            </a:extLst>
          </p:cNvPr>
          <p:cNvSpPr txBox="1"/>
          <p:nvPr/>
        </p:nvSpPr>
        <p:spPr>
          <a:xfrm>
            <a:off x="1359853" y="1413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健管前</a:t>
            </a:r>
          </a:p>
        </p:txBody>
      </p:sp>
      <p:graphicFrame>
        <p:nvGraphicFramePr>
          <p:cNvPr id="17" name="表格 17">
            <a:extLst>
              <a:ext uri="{FF2B5EF4-FFF2-40B4-BE49-F238E27FC236}">
                <a16:creationId xmlns:a16="http://schemas.microsoft.com/office/drawing/2014/main" id="{3BEE4949-BCFB-BBF0-61B3-5F86923BD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798220"/>
              </p:ext>
            </p:extLst>
          </p:nvPr>
        </p:nvGraphicFramePr>
        <p:xfrm>
          <a:off x="7087376" y="257174"/>
          <a:ext cx="4799824" cy="298298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38935">
                  <a:extLst>
                    <a:ext uri="{9D8B030D-6E8A-4147-A177-3AD203B41FA5}">
                      <a16:colId xmlns:a16="http://schemas.microsoft.com/office/drawing/2014/main" val="3511705347"/>
                    </a:ext>
                  </a:extLst>
                </a:gridCol>
                <a:gridCol w="936978">
                  <a:extLst>
                    <a:ext uri="{9D8B030D-6E8A-4147-A177-3AD203B41FA5}">
                      <a16:colId xmlns:a16="http://schemas.microsoft.com/office/drawing/2014/main" val="2358775108"/>
                    </a:ext>
                  </a:extLst>
                </a:gridCol>
                <a:gridCol w="982133">
                  <a:extLst>
                    <a:ext uri="{9D8B030D-6E8A-4147-A177-3AD203B41FA5}">
                      <a16:colId xmlns:a16="http://schemas.microsoft.com/office/drawing/2014/main" val="598697509"/>
                    </a:ext>
                  </a:extLst>
                </a:gridCol>
                <a:gridCol w="1241778">
                  <a:extLst>
                    <a:ext uri="{9D8B030D-6E8A-4147-A177-3AD203B41FA5}">
                      <a16:colId xmlns:a16="http://schemas.microsoft.com/office/drawing/2014/main" val="1908953908"/>
                    </a:ext>
                  </a:extLst>
                </a:gridCol>
              </a:tblGrid>
              <a:tr h="459510">
                <a:tc>
                  <a:txBody>
                    <a:bodyPr/>
                    <a:lstStyle/>
                    <a:p>
                      <a:endParaRPr lang="zh-TW" altLang="en-US" sz="2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開始日</a:t>
                      </a:r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sz="16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結束日</a:t>
                      </a:r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sz="16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成效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593780"/>
                  </a:ext>
                </a:extLst>
              </a:tr>
              <a:tr h="535341">
                <a:tc>
                  <a:txBody>
                    <a:bodyPr/>
                    <a:lstStyle/>
                    <a:p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體重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68.7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63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降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5.7kg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869877"/>
                  </a:ext>
                </a:extLst>
              </a:tr>
              <a:tr h="459510">
                <a:tc>
                  <a:txBody>
                    <a:bodyPr/>
                    <a:lstStyle/>
                    <a:p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體脂率</a:t>
                      </a:r>
                      <a:r>
                        <a:rPr lang="en-US" altLang="zh-TW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％</a:t>
                      </a:r>
                      <a:r>
                        <a:rPr lang="en-US" altLang="zh-TW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sz="24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23.5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21.7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降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1.8%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776910"/>
                  </a:ext>
                </a:extLst>
              </a:tr>
              <a:tr h="459510">
                <a:tc>
                  <a:txBody>
                    <a:bodyPr/>
                    <a:lstStyle/>
                    <a:p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體脂肪</a:t>
                      </a:r>
                      <a:r>
                        <a:rPr lang="en-US" altLang="zh-TW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(kg)</a:t>
                      </a:r>
                      <a:endParaRPr lang="zh-TW" altLang="en-US" sz="24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16.1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13.6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降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2.4kg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214688"/>
                  </a:ext>
                </a:extLst>
              </a:tr>
              <a:tr h="459510">
                <a:tc>
                  <a:txBody>
                    <a:bodyPr/>
                    <a:lstStyle/>
                    <a:p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內臟脂肪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9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降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86522"/>
                  </a:ext>
                </a:extLst>
              </a:tr>
              <a:tr h="459510">
                <a:tc>
                  <a:txBody>
                    <a:bodyPr/>
                    <a:lstStyle/>
                    <a:p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身體年齡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48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42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減 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</a:t>
                      </a:r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468215"/>
                  </a:ext>
                </a:extLst>
              </a:tr>
            </a:tbl>
          </a:graphicData>
        </a:graphic>
      </p:graphicFrame>
      <p:sp>
        <p:nvSpPr>
          <p:cNvPr id="18" name="文字方塊 17">
            <a:extLst>
              <a:ext uri="{FF2B5EF4-FFF2-40B4-BE49-F238E27FC236}">
                <a16:creationId xmlns:a16="http://schemas.microsoft.com/office/drawing/2014/main" id="{8A073C97-53F2-A2A4-D7DE-2265A92F221E}"/>
              </a:ext>
            </a:extLst>
          </p:cNvPr>
          <p:cNvSpPr txBox="1"/>
          <p:nvPr/>
        </p:nvSpPr>
        <p:spPr>
          <a:xfrm>
            <a:off x="139809" y="85819"/>
            <a:ext cx="6181969" cy="11387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28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寰宇南京中心</a:t>
            </a:r>
            <a:endParaRPr lang="en-US" altLang="zh-TW" sz="28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r>
              <a:rPr lang="zh-TW" altLang="en-US" sz="40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健管</a:t>
            </a:r>
            <a:r>
              <a:rPr lang="en-US" altLang="zh-TW" sz="40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45</a:t>
            </a:r>
            <a:r>
              <a:rPr lang="zh-TW" altLang="en-US" sz="40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王執定</a:t>
            </a:r>
            <a:r>
              <a:rPr lang="en-US" altLang="zh-TW" sz="40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	Rich</a:t>
            </a:r>
            <a:endParaRPr lang="en-US" altLang="zh-TW" sz="4000" b="1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BF3E83E-2CE8-F347-5C8A-5D475C26FBCE}"/>
              </a:ext>
            </a:extLst>
          </p:cNvPr>
          <p:cNvSpPr txBox="1"/>
          <p:nvPr/>
        </p:nvSpPr>
        <p:spPr>
          <a:xfrm>
            <a:off x="833527" y="1255380"/>
            <a:ext cx="5312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年齡</a:t>
            </a:r>
            <a:r>
              <a:rPr lang="en-US" altLang="zh-TW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 48</a:t>
            </a:r>
            <a:r>
              <a:rPr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歲</a:t>
            </a:r>
            <a:r>
              <a:rPr kumimoji="1"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推薦人</a:t>
            </a:r>
            <a:r>
              <a:rPr kumimoji="1" lang="en-US" altLang="zh-TW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kumimoji="1"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江沛璇       健管教練</a:t>
            </a:r>
            <a:r>
              <a:rPr kumimoji="1" lang="en-US" altLang="zh-TW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kumimoji="1"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麥淑媛</a:t>
            </a:r>
            <a:endParaRPr lang="zh-TW" altLang="en-US" b="1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CB1DBC-E0A9-5F04-D113-5984821BE2C4}"/>
              </a:ext>
            </a:extLst>
          </p:cNvPr>
          <p:cNvSpPr/>
          <p:nvPr/>
        </p:nvSpPr>
        <p:spPr>
          <a:xfrm>
            <a:off x="1896534" y="1659405"/>
            <a:ext cx="1444978" cy="5088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BEFORE</a:t>
            </a:r>
            <a:endParaRPr kumimoji="1" lang="zh-TW" altLang="en-US" sz="24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7146CC-EAED-039E-55C9-04C87031E0E7}"/>
              </a:ext>
            </a:extLst>
          </p:cNvPr>
          <p:cNvSpPr/>
          <p:nvPr/>
        </p:nvSpPr>
        <p:spPr>
          <a:xfrm>
            <a:off x="5536291" y="1644171"/>
            <a:ext cx="1267699" cy="488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AFTER</a:t>
            </a:r>
            <a:endParaRPr kumimoji="1" lang="zh-TW" altLang="en-US" sz="24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0B3FE3F8-1ECB-E9D4-BD86-C3896358E02A}"/>
              </a:ext>
            </a:extLst>
          </p:cNvPr>
          <p:cNvSpPr/>
          <p:nvPr/>
        </p:nvSpPr>
        <p:spPr>
          <a:xfrm>
            <a:off x="7283205" y="3429000"/>
            <a:ext cx="4421115" cy="317182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zh-TW" altLang="en-US" sz="2400" b="1" dirty="0">
                <a:solidFill>
                  <a:srgbClr val="00206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  ⭐️改善的狀況</a:t>
            </a:r>
            <a:endParaRPr kumimoji="1" lang="en-US" altLang="zh-TW" sz="2400" b="1" dirty="0">
              <a:solidFill>
                <a:srgbClr val="00206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TW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骨酪筋率 </a:t>
            </a:r>
            <a:r>
              <a:rPr kumimoji="1" lang="en-US" altLang="zh-TW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31.1 &gt; </a:t>
            </a:r>
            <a:r>
              <a:rPr kumimoji="1" lang="en-US" altLang="zh-TW" sz="24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31.7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TW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血壓 </a:t>
            </a:r>
            <a:r>
              <a:rPr kumimoji="1" lang="en-US" altLang="zh-TW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140/100</a:t>
            </a:r>
            <a:r>
              <a:rPr kumimoji="1" lang="zh-TW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&gt;</a:t>
            </a:r>
            <a:r>
              <a:rPr kumimoji="1" lang="zh-TW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120/80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TW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腰圍 </a:t>
            </a:r>
            <a:r>
              <a:rPr kumimoji="1" lang="en-US" altLang="zh-TW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90cm &gt; 82cm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zh-TW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臀圍</a:t>
            </a:r>
            <a:r>
              <a:rPr lang="zh-TW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96cm &gt;</a:t>
            </a:r>
            <a:r>
              <a:rPr lang="zh-TW" altLang="zh-TW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89cm</a:t>
            </a:r>
            <a:endParaRPr lang="en-US" altLang="zh-TW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TW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精神變好，下午不會累</a:t>
            </a:r>
            <a:endParaRPr kumimoji="1" lang="en-US" altLang="zh-TW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TW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味蕾變得更敏感</a:t>
            </a:r>
            <a:endParaRPr kumimoji="1" lang="en-US" altLang="zh-TW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1F31985-A668-46E5-FAE1-F43A31C77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994" y="2303823"/>
            <a:ext cx="2896191" cy="385810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68E70D9-F988-0053-2EF1-360267768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2" t="3750" r="33240" b="25640"/>
          <a:stretch>
            <a:fillRect/>
          </a:stretch>
        </p:blipFill>
        <p:spPr>
          <a:xfrm>
            <a:off x="664396" y="2132767"/>
            <a:ext cx="2426473" cy="451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85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9972</TotalTime>
  <Words>232</Words>
  <Application>Microsoft Macintosh PowerPoint</Application>
  <PresentationFormat>寬螢幕</PresentationFormat>
  <Paragraphs>77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Yogi Ma</dc:creator>
  <cp:lastModifiedBy>rich wang</cp:lastModifiedBy>
  <cp:revision>21</cp:revision>
  <dcterms:created xsi:type="dcterms:W3CDTF">2021-04-14T09:12:48Z</dcterms:created>
  <dcterms:modified xsi:type="dcterms:W3CDTF">2026-10-13T17:00:56Z</dcterms:modified>
</cp:coreProperties>
</file>