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中等深淺樣式 2 - 輔色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5802" autoAdjust="0"/>
    <p:restoredTop sz="94660"/>
  </p:normalViewPr>
  <p:slideViewPr>
    <p:cSldViewPr snapToGrid="0">
      <p:cViewPr varScale="1">
        <p:scale>
          <a:sx n="109" d="100"/>
          <a:sy n="109" d="100"/>
        </p:scale>
        <p:origin x="184" y="4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80FC5B0-EC28-424C-9220-A2914C6AA4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5A7A245F-0163-4199-97A0-D3F89CAAD9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3D11787-863C-472B-8EFB-D7C5A38279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E8DBE6-38AB-47C3-B12D-49AB1EB4ED75}" type="datetimeFigureOut">
              <a:rPr lang="zh-TW" altLang="en-US" smtClean="0"/>
              <a:t>2026/10/14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C929A39-0BE9-4DFD-9799-354044FFBD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80CB614-6CA2-4A1A-A02F-5A001A41C9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AC9A9A-CFFC-4CE3-9F38-2D74C971CF8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486307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38B381C-AACE-45F7-8B38-D5E5ADB722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A399A6B-A21D-4F7F-8732-1060E167DB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629C337-5F11-4225-81E0-2EF2C7D3D8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E8DBE6-38AB-47C3-B12D-49AB1EB4ED75}" type="datetimeFigureOut">
              <a:rPr lang="zh-TW" altLang="en-US" smtClean="0"/>
              <a:t>2026/10/14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7F5230C-024F-46E7-8831-38D45BE834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B023E0B-3314-4628-A195-718FA6B31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AC9A9A-CFFC-4CE3-9F38-2D74C971CF8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518738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51A6F44-8144-40DB-9C63-89D080FD61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2C9B687F-5E88-4D1D-B20D-EA202DA1D6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8F9930B-E46E-462B-82C6-7AFDBD643B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E8DBE6-38AB-47C3-B12D-49AB1EB4ED75}" type="datetimeFigureOut">
              <a:rPr lang="zh-TW" altLang="en-US" smtClean="0"/>
              <a:t>2026/10/14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1C8AAD11-1CD8-4862-91CE-780522DBCC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786E9FD-590F-4007-A3CC-88DB4B4F2E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AC9A9A-CFFC-4CE3-9F38-2D74C971CF8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507677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1861E4B-993D-45C6-B730-D68A6658F9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5A9B0A8-5969-490D-9413-FB030881838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2484EA47-93BC-47A4-A6AF-59AF6B7251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D691A241-FED5-4DDA-BED8-8746F3E678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E8DBE6-38AB-47C3-B12D-49AB1EB4ED75}" type="datetimeFigureOut">
              <a:rPr lang="zh-TW" altLang="en-US" smtClean="0"/>
              <a:t>2026/10/14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B099D929-6328-4AE9-AD67-5988BD6F1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69A40EED-4E94-4B77-BB0B-72EA7C2BF5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AC9A9A-CFFC-4CE3-9F38-2D74C971CF8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683784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8D46212-BA62-4B22-A39A-F85975CF61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2E0C4C76-DDAF-4235-8EE6-81C3CBB4A4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5D89C31D-22DF-4059-A88C-7E53CB4DD1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A3AA8339-2825-457A-AAC5-2DD8417FEB0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21DD8DC2-E457-44E8-B7AF-A56C5A657F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DE6BC396-6BE5-4E91-B08A-FE89201B7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E8DBE6-38AB-47C3-B12D-49AB1EB4ED75}" type="datetimeFigureOut">
              <a:rPr lang="zh-TW" altLang="en-US" smtClean="0"/>
              <a:t>2026/10/14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91BE0E46-D77C-460D-8BA7-4D6CB946FD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CFFCA43D-72A7-40B4-9BD8-B0C2572C5B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AC9A9A-CFFC-4CE3-9F38-2D74C971CF8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786326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95FFCF3-AFB7-49BC-A2CA-A6B99F75DF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67A2FDAE-C718-42B1-BBEF-856E889AD5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E8DBE6-38AB-47C3-B12D-49AB1EB4ED75}" type="datetimeFigureOut">
              <a:rPr lang="zh-TW" altLang="en-US" smtClean="0"/>
              <a:t>2026/10/14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689C8174-7AB3-478D-9BC4-213C875DDC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3024561C-BE70-4076-B986-1258FC8245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AC9A9A-CFFC-4CE3-9F38-2D74C971CF8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189800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B98126FA-91AE-4558-B136-93AFF2BF65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E8DBE6-38AB-47C3-B12D-49AB1EB4ED75}" type="datetimeFigureOut">
              <a:rPr lang="zh-TW" altLang="en-US" smtClean="0"/>
              <a:t>2026/10/14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72DD139F-642F-4AE2-AA47-328BA4DF4D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EAB5E74-8955-4285-8EE6-7CBBA0C0B8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AC9A9A-CFFC-4CE3-9F38-2D74C971CF8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050074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6FB8D86-022F-4D2D-8693-4E3D58E491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9634B4F-CAC2-4F58-9965-6FB89D4EDE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A43BAB8B-7189-49CE-9AD8-16314DC7C1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00D59E7B-4915-4E0A-948A-F2E8BB32AA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E8DBE6-38AB-47C3-B12D-49AB1EB4ED75}" type="datetimeFigureOut">
              <a:rPr lang="zh-TW" altLang="en-US" smtClean="0"/>
              <a:t>2026/10/14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9DE95C17-FB6C-4AB1-AA61-C7C1A036A6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9C8A9892-9A3D-4098-9735-138C4B8770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AC9A9A-CFFC-4CE3-9F38-2D74C971CF8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614223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7CE7A27-23B0-4883-A651-C6F3D3F22A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436F7C19-B693-40EA-84DE-6136C68B906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79E0C4CD-27C5-4B7B-9C7D-87ED77FC95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5B7A0134-113E-4D48-9E7A-81F1DA56B4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E8DBE6-38AB-47C3-B12D-49AB1EB4ED75}" type="datetimeFigureOut">
              <a:rPr lang="zh-TW" altLang="en-US" smtClean="0"/>
              <a:t>2026/10/14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CA75B725-AD0D-421C-BAE5-C3CC95190F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2F3C999D-DA02-4DE4-8079-D9928FED80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AC9A9A-CFFC-4CE3-9F38-2D74C971CF8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808681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14F8962-118D-48EB-A6B3-4FB3C9D6A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021027C6-FC61-47DB-B360-BCD03E7BB2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B5BB788-8E7C-47AE-9753-6771FFF68D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E8DBE6-38AB-47C3-B12D-49AB1EB4ED75}" type="datetimeFigureOut">
              <a:rPr lang="zh-TW" altLang="en-US" smtClean="0"/>
              <a:t>2026/10/14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853AB3F-6B0D-45AC-9C09-B0199B7E91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239B9B8-A2A9-4AA9-BF85-73BF090B6D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AC9A9A-CFFC-4CE3-9F38-2D74C971CF8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122945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E6FB9778-47EB-4AF3-8FDF-18A64E50561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A9335F4D-2E32-4907-A9AB-8F60A7C4A1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9735972-114F-4376-9C97-F2EFEA2B43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E8DBE6-38AB-47C3-B12D-49AB1EB4ED75}" type="datetimeFigureOut">
              <a:rPr lang="zh-TW" altLang="en-US" smtClean="0"/>
              <a:t>2026/10/14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4973F72-2E23-4DCE-8603-73C1E7F4E1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084E9C2-AA5D-451F-A3CC-DD78A42BD2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AC9A9A-CFFC-4CE3-9F38-2D74C971CF8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442659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F78E896E-53CC-48AA-BFFB-A2AA017A0D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6C58CEF9-9C92-4F8F-A0CC-97242C81F7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E012883-79A6-4ED6-AD9B-91FDEC264F3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E8DBE6-38AB-47C3-B12D-49AB1EB4ED75}" type="datetimeFigureOut">
              <a:rPr lang="zh-TW" altLang="en-US" smtClean="0"/>
              <a:t>2026/10/14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5ABBCD9-DB50-47A0-B3C2-E0806895EC6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CFD2ACB-D1E6-41CA-A2BB-FC88EAB43B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AC9A9A-CFFC-4CE3-9F38-2D74C971CF8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718295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>
            <a:extLst>
              <a:ext uri="{FF2B5EF4-FFF2-40B4-BE49-F238E27FC236}">
                <a16:creationId xmlns:a16="http://schemas.microsoft.com/office/drawing/2014/main" id="{FBF50782-515B-B942-B678-71018B5E6980}"/>
              </a:ext>
            </a:extLst>
          </p:cNvPr>
          <p:cNvSpPr/>
          <p:nvPr/>
        </p:nvSpPr>
        <p:spPr>
          <a:xfrm>
            <a:off x="3810435" y="1655500"/>
            <a:ext cx="2993555" cy="5186439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zh-TW" altLang="en-US" sz="3200" dirty="0">
                <a:solidFill>
                  <a:schemeClr val="tx1">
                    <a:lumMod val="50000"/>
                    <a:lumOff val="50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健管後照片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473CEDE-EF75-0242-B450-AC6D7A7321C9}"/>
              </a:ext>
            </a:extLst>
          </p:cNvPr>
          <p:cNvSpPr/>
          <p:nvPr/>
        </p:nvSpPr>
        <p:spPr>
          <a:xfrm>
            <a:off x="381175" y="1671559"/>
            <a:ext cx="2971800" cy="5186439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zh-TW" altLang="en-US" sz="3200" dirty="0">
                <a:solidFill>
                  <a:schemeClr val="tx1">
                    <a:lumMod val="50000"/>
                    <a:lumOff val="50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健管前照片</a:t>
            </a: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EB892D98-F261-43E9-B2A8-D4E23AE242D9}"/>
              </a:ext>
            </a:extLst>
          </p:cNvPr>
          <p:cNvSpPr txBox="1"/>
          <p:nvPr/>
        </p:nvSpPr>
        <p:spPr>
          <a:xfrm>
            <a:off x="5568157" y="257174"/>
            <a:ext cx="172354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40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健管後</a:t>
            </a: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27B3C825-704A-4FE1-8385-93D10C2C84C8}"/>
              </a:ext>
            </a:extLst>
          </p:cNvPr>
          <p:cNvSpPr txBox="1"/>
          <p:nvPr/>
        </p:nvSpPr>
        <p:spPr>
          <a:xfrm>
            <a:off x="1359853" y="141388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36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健管前</a:t>
            </a:r>
          </a:p>
        </p:txBody>
      </p:sp>
      <p:graphicFrame>
        <p:nvGraphicFramePr>
          <p:cNvPr id="17" name="表格 17">
            <a:extLst>
              <a:ext uri="{FF2B5EF4-FFF2-40B4-BE49-F238E27FC236}">
                <a16:creationId xmlns:a16="http://schemas.microsoft.com/office/drawing/2014/main" id="{9F2DDE7E-B314-4F60-96B6-9705E17DBAD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8552612"/>
              </p:ext>
            </p:extLst>
          </p:nvPr>
        </p:nvGraphicFramePr>
        <p:xfrm>
          <a:off x="7087376" y="257174"/>
          <a:ext cx="4799824" cy="2832891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638935">
                  <a:extLst>
                    <a:ext uri="{9D8B030D-6E8A-4147-A177-3AD203B41FA5}">
                      <a16:colId xmlns:a16="http://schemas.microsoft.com/office/drawing/2014/main" val="3511705347"/>
                    </a:ext>
                  </a:extLst>
                </a:gridCol>
                <a:gridCol w="936978">
                  <a:extLst>
                    <a:ext uri="{9D8B030D-6E8A-4147-A177-3AD203B41FA5}">
                      <a16:colId xmlns:a16="http://schemas.microsoft.com/office/drawing/2014/main" val="2358775108"/>
                    </a:ext>
                  </a:extLst>
                </a:gridCol>
                <a:gridCol w="982133">
                  <a:extLst>
                    <a:ext uri="{9D8B030D-6E8A-4147-A177-3AD203B41FA5}">
                      <a16:colId xmlns:a16="http://schemas.microsoft.com/office/drawing/2014/main" val="598697509"/>
                    </a:ext>
                  </a:extLst>
                </a:gridCol>
                <a:gridCol w="1241778">
                  <a:extLst>
                    <a:ext uri="{9D8B030D-6E8A-4147-A177-3AD203B41FA5}">
                      <a16:colId xmlns:a16="http://schemas.microsoft.com/office/drawing/2014/main" val="1908953908"/>
                    </a:ext>
                  </a:extLst>
                </a:gridCol>
              </a:tblGrid>
              <a:tr h="459510">
                <a:tc>
                  <a:txBody>
                    <a:bodyPr/>
                    <a:lstStyle/>
                    <a:p>
                      <a:endParaRPr lang="zh-TW" altLang="en-US" sz="2400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TW" sz="1800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(</a:t>
                      </a:r>
                      <a:r>
                        <a:rPr lang="zh-TW" altLang="en-US" sz="1600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開始日</a:t>
                      </a:r>
                      <a:r>
                        <a:rPr lang="en-US" altLang="zh-TW" sz="1600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)</a:t>
                      </a:r>
                      <a:endParaRPr lang="zh-TW" altLang="en-US" sz="1600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TW" sz="1600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(</a:t>
                      </a:r>
                      <a:r>
                        <a:rPr lang="zh-TW" altLang="en-US" sz="1600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結束日</a:t>
                      </a:r>
                      <a:r>
                        <a:rPr lang="en-US" altLang="zh-TW" sz="1600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)</a:t>
                      </a:r>
                      <a:endParaRPr lang="zh-TW" altLang="en-US" sz="1600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400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成效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81593780"/>
                  </a:ext>
                </a:extLst>
              </a:tr>
              <a:tr h="535341">
                <a:tc>
                  <a:txBody>
                    <a:bodyPr/>
                    <a:lstStyle/>
                    <a:p>
                      <a:r>
                        <a:rPr lang="zh-TW" altLang="en-US" sz="2400" b="1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體重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200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53</a:t>
                      </a:r>
                      <a:endParaRPr lang="zh-TW" altLang="en-US" sz="2200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200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50.9</a:t>
                      </a:r>
                      <a:endParaRPr lang="zh-TW" altLang="en-US" sz="2200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2200" b="1" dirty="0">
                          <a:solidFill>
                            <a:srgbClr val="FF0000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降</a:t>
                      </a:r>
                      <a:r>
                        <a:rPr lang="en-US" altLang="zh-TW" sz="2200" b="1" dirty="0">
                          <a:solidFill>
                            <a:srgbClr val="FF0000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2.1kg</a:t>
                      </a:r>
                      <a:endParaRPr lang="zh-TW" altLang="en-US" sz="2200" b="1" dirty="0">
                        <a:solidFill>
                          <a:srgbClr val="FF0000"/>
                        </a:solidFill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1869877"/>
                  </a:ext>
                </a:extLst>
              </a:tr>
              <a:tr h="459510">
                <a:tc>
                  <a:txBody>
                    <a:bodyPr/>
                    <a:lstStyle/>
                    <a:p>
                      <a:r>
                        <a:rPr lang="zh-TW" altLang="en-US" sz="2400" b="1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體脂率</a:t>
                      </a:r>
                      <a:r>
                        <a:rPr lang="en-US" altLang="zh-TW" sz="2400" b="1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(</a:t>
                      </a:r>
                      <a:r>
                        <a:rPr lang="zh-TW" altLang="en-US" sz="2400" b="1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％</a:t>
                      </a:r>
                      <a:r>
                        <a:rPr lang="en-US" altLang="zh-TW" sz="2400" b="1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)</a:t>
                      </a:r>
                      <a:endParaRPr lang="zh-TW" altLang="en-US" sz="2400" b="1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200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32.2</a:t>
                      </a:r>
                      <a:endParaRPr lang="zh-TW" altLang="en-US" sz="2200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200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30.4</a:t>
                      </a:r>
                      <a:endParaRPr lang="zh-TW" altLang="en-US" sz="2200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2200" b="1" dirty="0">
                          <a:solidFill>
                            <a:srgbClr val="FF0000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降</a:t>
                      </a:r>
                      <a:r>
                        <a:rPr lang="en-US" altLang="zh-TW" sz="2200" b="1" dirty="0">
                          <a:solidFill>
                            <a:srgbClr val="FF0000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1.8 %</a:t>
                      </a:r>
                      <a:endParaRPr lang="zh-TW" altLang="en-US" sz="2200" b="1" dirty="0">
                        <a:solidFill>
                          <a:srgbClr val="FF0000"/>
                        </a:solidFill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2776910"/>
                  </a:ext>
                </a:extLst>
              </a:tr>
              <a:tr h="459510">
                <a:tc>
                  <a:txBody>
                    <a:bodyPr/>
                    <a:lstStyle/>
                    <a:p>
                      <a:r>
                        <a:rPr lang="zh-TW" altLang="en-US" sz="2400" b="1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體脂肪</a:t>
                      </a:r>
                      <a:r>
                        <a:rPr lang="en-US" altLang="zh-TW" sz="2400" b="1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(kg)</a:t>
                      </a:r>
                      <a:endParaRPr lang="zh-TW" altLang="en-US" sz="2400" b="1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200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17.07</a:t>
                      </a:r>
                      <a:endParaRPr lang="zh-TW" altLang="en-US" sz="2200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200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15.47</a:t>
                      </a:r>
                      <a:endParaRPr lang="zh-TW" altLang="en-US" sz="2200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2200" b="1" dirty="0">
                          <a:solidFill>
                            <a:srgbClr val="FF0000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降</a:t>
                      </a:r>
                      <a:r>
                        <a:rPr lang="en-US" altLang="zh-TW" sz="2200" b="1" dirty="0">
                          <a:solidFill>
                            <a:srgbClr val="FF0000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1.6kg</a:t>
                      </a:r>
                      <a:endParaRPr lang="zh-TW" altLang="en-US" sz="2200" b="1" dirty="0">
                        <a:solidFill>
                          <a:srgbClr val="FF0000"/>
                        </a:solidFill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6214688"/>
                  </a:ext>
                </a:extLst>
              </a:tr>
              <a:tr h="459510">
                <a:tc>
                  <a:txBody>
                    <a:bodyPr/>
                    <a:lstStyle/>
                    <a:p>
                      <a:r>
                        <a:rPr lang="zh-TW" altLang="en-US" sz="2400" b="1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內臟脂肪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200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5</a:t>
                      </a:r>
                      <a:endParaRPr lang="zh-TW" altLang="en-US" sz="2200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200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4</a:t>
                      </a:r>
                      <a:endParaRPr lang="zh-TW" altLang="en-US" sz="2200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2200" b="1" dirty="0">
                          <a:solidFill>
                            <a:srgbClr val="FF0000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降</a:t>
                      </a:r>
                      <a:r>
                        <a:rPr lang="en-US" altLang="zh-TW" sz="2200" b="1" dirty="0">
                          <a:solidFill>
                            <a:srgbClr val="FF0000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 1</a:t>
                      </a:r>
                      <a:r>
                        <a:rPr lang="zh-TW" altLang="en-US" sz="2200" b="1" dirty="0">
                          <a:solidFill>
                            <a:srgbClr val="FF0000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 </a:t>
                      </a:r>
                      <a:endParaRPr lang="en-US" altLang="zh-TW" sz="2200" b="1" dirty="0">
                        <a:solidFill>
                          <a:srgbClr val="FF0000"/>
                        </a:solidFill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386522"/>
                  </a:ext>
                </a:extLst>
              </a:tr>
              <a:tr h="459510">
                <a:tc>
                  <a:txBody>
                    <a:bodyPr/>
                    <a:lstStyle/>
                    <a:p>
                      <a:r>
                        <a:rPr lang="zh-TW" altLang="en-US" sz="2400" b="1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身體年齡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200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51</a:t>
                      </a:r>
                      <a:endParaRPr lang="zh-TW" altLang="en-US" sz="2200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200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48</a:t>
                      </a:r>
                      <a:endParaRPr lang="zh-TW" altLang="en-US" sz="2200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2200" b="1" dirty="0">
                          <a:solidFill>
                            <a:srgbClr val="FF0000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減 </a:t>
                      </a:r>
                      <a:r>
                        <a:rPr lang="en-US" altLang="zh-TW" sz="2200" b="1" dirty="0">
                          <a:solidFill>
                            <a:srgbClr val="FF0000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3</a:t>
                      </a:r>
                      <a:r>
                        <a:rPr lang="zh-TW" altLang="en-US" sz="2200" b="1" dirty="0">
                          <a:solidFill>
                            <a:srgbClr val="FF0000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 歲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6468215"/>
                  </a:ext>
                </a:extLst>
              </a:tr>
            </a:tbl>
          </a:graphicData>
        </a:graphic>
      </p:graphicFrame>
      <p:sp>
        <p:nvSpPr>
          <p:cNvPr id="18" name="文字方塊 17">
            <a:extLst>
              <a:ext uri="{FF2B5EF4-FFF2-40B4-BE49-F238E27FC236}">
                <a16:creationId xmlns:a16="http://schemas.microsoft.com/office/drawing/2014/main" id="{44CD22C7-926A-49E5-960E-45C0B5E75CA6}"/>
              </a:ext>
            </a:extLst>
          </p:cNvPr>
          <p:cNvSpPr txBox="1"/>
          <p:nvPr/>
        </p:nvSpPr>
        <p:spPr>
          <a:xfrm>
            <a:off x="139809" y="85819"/>
            <a:ext cx="6181969" cy="1138773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zh-TW" altLang="en-US" sz="2800" b="1" dirty="0">
                <a:solidFill>
                  <a:schemeClr val="accent2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寰宇南京中心</a:t>
            </a:r>
            <a:endParaRPr lang="en-US" altLang="zh-TW" sz="2800" b="1" dirty="0">
              <a:solidFill>
                <a:schemeClr val="accent2">
                  <a:lumMod val="7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2800" b="1" dirty="0">
                <a:solidFill>
                  <a:schemeClr val="accent2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      </a:t>
            </a:r>
            <a:r>
              <a:rPr lang="zh-TW" altLang="en-US" sz="4000" b="1" dirty="0">
                <a:solidFill>
                  <a:schemeClr val="accent2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健管</a:t>
            </a:r>
            <a:r>
              <a:rPr lang="en-US" altLang="zh-TW" sz="4000" b="1" dirty="0">
                <a:solidFill>
                  <a:schemeClr val="accent2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45</a:t>
            </a:r>
            <a:r>
              <a:rPr lang="zh-TW" altLang="en-US" sz="4000" b="1" dirty="0">
                <a:solidFill>
                  <a:schemeClr val="accent2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     許雅雯</a:t>
            </a:r>
            <a:endParaRPr lang="en-US" altLang="zh-TW" sz="4000" b="1" dirty="0">
              <a:solidFill>
                <a:schemeClr val="accent2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9D4FF876-982F-4140-8E51-B16B2C8C667A}"/>
              </a:ext>
            </a:extLst>
          </p:cNvPr>
          <p:cNvSpPr txBox="1"/>
          <p:nvPr/>
        </p:nvSpPr>
        <p:spPr>
          <a:xfrm>
            <a:off x="833527" y="1255380"/>
            <a:ext cx="53126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b="1" dirty="0">
                <a:solidFill>
                  <a:schemeClr val="accent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年齡</a:t>
            </a:r>
            <a:r>
              <a:rPr lang="en-US" altLang="zh-TW" b="1" dirty="0">
                <a:solidFill>
                  <a:schemeClr val="accent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:  48</a:t>
            </a:r>
            <a:r>
              <a:rPr lang="zh-TW" altLang="en-US" b="1" dirty="0">
                <a:solidFill>
                  <a:schemeClr val="accent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歲</a:t>
            </a:r>
            <a:r>
              <a:rPr kumimoji="1" lang="zh-TW" altLang="en-US" b="1" dirty="0">
                <a:solidFill>
                  <a:schemeClr val="accent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     推薦人</a:t>
            </a:r>
            <a:r>
              <a:rPr kumimoji="1" lang="en-US" altLang="zh-TW" b="1" dirty="0">
                <a:solidFill>
                  <a:schemeClr val="accent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: </a:t>
            </a:r>
            <a:r>
              <a:rPr kumimoji="1" lang="zh-TW" altLang="en-US" b="1" dirty="0">
                <a:solidFill>
                  <a:schemeClr val="accent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江沛璇       健管教練</a:t>
            </a:r>
            <a:r>
              <a:rPr kumimoji="1" lang="en-US" altLang="zh-TW" b="1" dirty="0">
                <a:solidFill>
                  <a:schemeClr val="accent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:</a:t>
            </a:r>
            <a:r>
              <a:rPr kumimoji="1" lang="zh-TW" altLang="en-US" b="1" dirty="0">
                <a:solidFill>
                  <a:schemeClr val="accent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麥淑媛</a:t>
            </a:r>
            <a:endParaRPr lang="zh-TW" altLang="en-US" b="1" dirty="0">
              <a:solidFill>
                <a:schemeClr val="accent2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90464904-F5AB-EA4B-B93E-977F5A3DDB07}"/>
              </a:ext>
            </a:extLst>
          </p:cNvPr>
          <p:cNvSpPr/>
          <p:nvPr/>
        </p:nvSpPr>
        <p:spPr>
          <a:xfrm>
            <a:off x="5536291" y="1644171"/>
            <a:ext cx="1267699" cy="488596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400" b="1" dirty="0">
                <a:solidFill>
                  <a:schemeClr val="bg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AFTER</a:t>
            </a:r>
            <a:endParaRPr kumimoji="1" lang="zh-TW" altLang="en-US" sz="2400" b="1" dirty="0">
              <a:solidFill>
                <a:schemeClr val="bg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6" name="圓角矩形 5">
            <a:extLst>
              <a:ext uri="{FF2B5EF4-FFF2-40B4-BE49-F238E27FC236}">
                <a16:creationId xmlns:a16="http://schemas.microsoft.com/office/drawing/2014/main" id="{8B7DBB07-CBCF-B745-BE40-2AE7449D3BB2}"/>
              </a:ext>
            </a:extLst>
          </p:cNvPr>
          <p:cNvSpPr/>
          <p:nvPr/>
        </p:nvSpPr>
        <p:spPr>
          <a:xfrm>
            <a:off x="7283205" y="3429000"/>
            <a:ext cx="4421115" cy="3171826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kumimoji="1" lang="zh-TW" altLang="en-US" sz="2400" b="1" dirty="0">
                <a:solidFill>
                  <a:srgbClr val="7030A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              </a:t>
            </a:r>
            <a:r>
              <a:rPr kumimoji="1" lang="zh-TW" altLang="en-US" sz="2400" b="1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改善的狀況</a:t>
            </a:r>
            <a:endParaRPr kumimoji="1" lang="en-US" altLang="zh-TW" sz="2400" b="1" dirty="0">
              <a:solidFill>
                <a:schemeClr val="tx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endParaRPr kumimoji="1" lang="en-US" altLang="zh-TW" sz="2400" b="1" dirty="0">
              <a:solidFill>
                <a:schemeClr val="tx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r>
              <a:rPr kumimoji="1" lang="zh-TW" altLang="en-US" sz="2400" b="1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      </a:t>
            </a:r>
            <a:r>
              <a:rPr kumimoji="1" lang="en-US" altLang="zh-TW" sz="2400" b="1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1</a:t>
            </a:r>
            <a:r>
              <a:rPr kumimoji="1" lang="zh-TW" altLang="en-US" sz="2400" b="1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、胃部漲氣</a:t>
            </a:r>
            <a:endParaRPr kumimoji="1" lang="en-US" altLang="zh-TW" sz="2400" b="1" dirty="0">
              <a:solidFill>
                <a:schemeClr val="tx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r>
              <a:rPr kumimoji="1" lang="zh-TW" altLang="en-US" sz="2400" b="1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      </a:t>
            </a:r>
            <a:r>
              <a:rPr kumimoji="1" lang="en-US" altLang="zh-TW" sz="2400" b="1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2</a:t>
            </a:r>
            <a:r>
              <a:rPr kumimoji="1" lang="zh-TW" altLang="en-US" sz="2400" b="1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、皮膚過敏與溼疹</a:t>
            </a:r>
            <a:endParaRPr kumimoji="1" lang="en-US" altLang="zh-TW" sz="2400" b="1" dirty="0">
              <a:solidFill>
                <a:schemeClr val="tx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r>
              <a:rPr kumimoji="1" lang="zh-TW" altLang="en-US" sz="2400" b="1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      </a:t>
            </a:r>
            <a:r>
              <a:rPr kumimoji="1" lang="en-US" altLang="zh-TW" sz="2400" b="1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3</a:t>
            </a:r>
            <a:r>
              <a:rPr kumimoji="1" lang="zh-TW" altLang="en-US" sz="2400" b="1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、精神變好，下午不會</a:t>
            </a:r>
            <a:r>
              <a:rPr kumimoji="1" lang="zh-TW" altLang="en-US" sz="2400" b="1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打         打瞌睡</a:t>
            </a:r>
            <a:endParaRPr kumimoji="1" lang="en-US" altLang="zh-TW" sz="2400" b="1" dirty="0">
              <a:solidFill>
                <a:schemeClr val="tx1">
                  <a:lumMod val="50000"/>
                  <a:lumOff val="50000"/>
                </a:schemeClr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r>
              <a:rPr kumimoji="1" lang="zh-TW" altLang="en-US" sz="2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            </a:t>
            </a:r>
            <a:endParaRPr kumimoji="1" lang="en-US" altLang="zh-TW" sz="2400" b="1" dirty="0">
              <a:solidFill>
                <a:schemeClr val="tx1">
                  <a:lumMod val="50000"/>
                  <a:lumOff val="50000"/>
                </a:schemeClr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r>
              <a:rPr kumimoji="1" lang="zh-TW" altLang="en-US" sz="2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     </a:t>
            </a:r>
            <a:endParaRPr kumimoji="1" lang="en-US" altLang="zh-TW" sz="2400" b="1" dirty="0">
              <a:solidFill>
                <a:schemeClr val="tx1">
                  <a:lumMod val="50000"/>
                  <a:lumOff val="50000"/>
                </a:schemeClr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0DEC8AAD-20F7-A2D4-7330-369FEA2AC1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435" y="2132767"/>
            <a:ext cx="2993555" cy="4046122"/>
          </a:xfrm>
          <a:prstGeom prst="rect">
            <a:avLst/>
          </a:prstGeom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488FFDCF-169E-2A73-5E45-EF37E77E058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993" t="10010" r="25088" b="12966"/>
          <a:stretch>
            <a:fillRect/>
          </a:stretch>
        </p:blipFill>
        <p:spPr>
          <a:xfrm>
            <a:off x="6096000" y="3297295"/>
            <a:ext cx="1830547" cy="3358861"/>
          </a:xfrm>
          <a:prstGeom prst="rect">
            <a:avLst/>
          </a:prstGeom>
        </p:spPr>
      </p:pic>
      <p:pic>
        <p:nvPicPr>
          <p:cNvPr id="15" name="圖片 14">
            <a:extLst>
              <a:ext uri="{FF2B5EF4-FFF2-40B4-BE49-F238E27FC236}">
                <a16:creationId xmlns:a16="http://schemas.microsoft.com/office/drawing/2014/main" id="{C10182E7-7F54-7362-D2F1-6F0C9814E8D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165" t="-2062" r="24997" b="2062"/>
          <a:stretch>
            <a:fillRect/>
          </a:stretch>
        </p:blipFill>
        <p:spPr>
          <a:xfrm>
            <a:off x="158499" y="1624712"/>
            <a:ext cx="2331241" cy="4677609"/>
          </a:xfrm>
          <a:prstGeom prst="rect">
            <a:avLst/>
          </a:prstGeom>
        </p:spPr>
      </p:pic>
      <p:pic>
        <p:nvPicPr>
          <p:cNvPr id="21" name="圖片 20">
            <a:extLst>
              <a:ext uri="{FF2B5EF4-FFF2-40B4-BE49-F238E27FC236}">
                <a16:creationId xmlns:a16="http://schemas.microsoft.com/office/drawing/2014/main" id="{F919A4AA-3F55-02B6-2E78-0855D33E954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669" r="34757"/>
          <a:stretch>
            <a:fillRect/>
          </a:stretch>
        </p:blipFill>
        <p:spPr>
          <a:xfrm>
            <a:off x="1896534" y="2132768"/>
            <a:ext cx="1540139" cy="4709172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FA169DA8-3582-9D40-849B-DA1CE6A608C1}"/>
              </a:ext>
            </a:extLst>
          </p:cNvPr>
          <p:cNvSpPr/>
          <p:nvPr/>
        </p:nvSpPr>
        <p:spPr>
          <a:xfrm>
            <a:off x="1896534" y="1659405"/>
            <a:ext cx="1444978" cy="50883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400" b="1" dirty="0">
                <a:solidFill>
                  <a:schemeClr val="bg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BEFORE</a:t>
            </a:r>
            <a:endParaRPr kumimoji="1" lang="zh-TW" altLang="en-US" sz="2400" b="1" dirty="0">
              <a:solidFill>
                <a:schemeClr val="bg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8212731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9976</TotalTime>
  <Words>119</Words>
  <Application>Microsoft Macintosh PowerPoint</Application>
  <PresentationFormat>寬螢幕</PresentationFormat>
  <Paragraphs>39</Paragraphs>
  <Slides>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</vt:i4>
      </vt:variant>
    </vt:vector>
  </HeadingPairs>
  <TitlesOfParts>
    <vt:vector size="7" baseType="lpstr">
      <vt:lpstr>微軟正黑體</vt:lpstr>
      <vt:lpstr>微軟正黑體</vt:lpstr>
      <vt:lpstr>Arial</vt:lpstr>
      <vt:lpstr>Calibri</vt:lpstr>
      <vt:lpstr>Calibri Light</vt:lpstr>
      <vt:lpstr>Office 佈景主題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Yogi Ma</dc:creator>
  <cp:lastModifiedBy>rich wang</cp:lastModifiedBy>
  <cp:revision>23</cp:revision>
  <dcterms:created xsi:type="dcterms:W3CDTF">2021-04-14T09:12:48Z</dcterms:created>
  <dcterms:modified xsi:type="dcterms:W3CDTF">2026-10-13T23:39:50Z</dcterms:modified>
</cp:coreProperties>
</file>